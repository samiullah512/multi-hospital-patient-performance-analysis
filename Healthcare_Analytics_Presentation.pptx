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ppt/charts/chart8.xml" ContentType="application/vnd.openxmlformats-officedocument.drawingml.chart+xml"/>
  <Override PartName="/ppt/notesSlides/notesSlide12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5BA3C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446-473F-9249-AC401DA3AA12}"/>
              </c:ext>
            </c:extLst>
          </c:dPt>
          <c:dPt>
            <c:idx val="1"/>
            <c:invertIfNegative val="0"/>
            <c:bubble3D val="0"/>
            <c:spPr>
              <a:solidFill>
                <a:srgbClr val="0E74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446-473F-9249-AC401DA3AA12}"/>
              </c:ext>
            </c:extLst>
          </c:dPt>
          <c:dPt>
            <c:idx val="2"/>
            <c:invertIfNegative val="0"/>
            <c:bubble3D val="0"/>
            <c:spPr>
              <a:solidFill>
                <a:srgbClr val="0E74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446-473F-9249-AC401DA3AA12}"/>
              </c:ext>
            </c:extLst>
          </c:dPt>
          <c:dPt>
            <c:idx val="3"/>
            <c:invertIfNegative val="0"/>
            <c:bubble3D val="0"/>
            <c:spPr>
              <a:solidFill>
                <a:srgbClr val="0E74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446-473F-9249-AC401DA3AA12}"/>
              </c:ext>
            </c:extLst>
          </c:dPt>
          <c:dPt>
            <c:idx val="4"/>
            <c:invertIfNegative val="0"/>
            <c:bubble3D val="0"/>
            <c:spPr>
              <a:solidFill>
                <a:srgbClr val="0E74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446-473F-9249-AC401DA3AA12}"/>
              </c:ext>
            </c:extLst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446-473F-9249-AC401DA3AA1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7387</c:v>
                </c:pt>
                <c:pt idx="1">
                  <c:v>11285</c:v>
                </c:pt>
                <c:pt idx="2">
                  <c:v>10931</c:v>
                </c:pt>
                <c:pt idx="3">
                  <c:v>11017</c:v>
                </c:pt>
                <c:pt idx="4">
                  <c:v>11026</c:v>
                </c:pt>
                <c:pt idx="5">
                  <c:v>3854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446-473F-9249-AC401DA3AA1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D1B2A"/>
                </a:solidFill>
                <a:latin typeface="Arial"/>
              </a:rPr>
              <a:t>Patients by Age Group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0E74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71 and Older</c:v>
                </c:pt>
                <c:pt idx="1">
                  <c:v>51-60</c:v>
                </c:pt>
                <c:pt idx="2">
                  <c:v>61-70</c:v>
                </c:pt>
                <c:pt idx="3">
                  <c:v>41-50</c:v>
                </c:pt>
                <c:pt idx="4">
                  <c:v>31-40</c:v>
                </c:pt>
                <c:pt idx="5">
                  <c:v>21-30</c:v>
                </c:pt>
                <c:pt idx="6">
                  <c:v>10-20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12142</c:v>
                </c:pt>
                <c:pt idx="1">
                  <c:v>8297</c:v>
                </c:pt>
                <c:pt idx="2">
                  <c:v>8228</c:v>
                </c:pt>
                <c:pt idx="3">
                  <c:v>8209</c:v>
                </c:pt>
                <c:pt idx="4">
                  <c:v>8125</c:v>
                </c:pt>
                <c:pt idx="5">
                  <c:v>8056</c:v>
                </c:pt>
                <c:pt idx="6">
                  <c:v>2443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FA-4BFF-8B0D-51374E9CEA8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D1B2A"/>
                </a:solidFill>
                <a:latin typeface="Arial"/>
              </a:rPr>
              <a:t>Patients by Gender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3A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DF2-49F0-8FB9-E9F1C79C7D22}"/>
              </c:ext>
            </c:extLst>
          </c:dPt>
          <c:dPt>
            <c:idx val="1"/>
            <c:bubble3D val="0"/>
            <c:spPr>
              <a:solidFill>
                <a:srgbClr val="22D3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DF2-49F0-8FB9-E9F1C79C7D2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DF2-49F0-8FB9-E9F1C79C7D2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DF2-49F0-8FB9-E9F1C79C7D2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27774</c:v>
                </c:pt>
                <c:pt idx="1">
                  <c:v>27726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DF2-49F0-8FB9-E9F1C79C7D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D1B2A"/>
                </a:solidFill>
                <a:latin typeface="Arial"/>
              </a:rPr>
              <a:t>Patients by Medical Condition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5BA3C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Arthritis</c:v>
                </c:pt>
                <c:pt idx="1">
                  <c:v>Diabetes</c:v>
                </c:pt>
                <c:pt idx="2">
                  <c:v>Hypertension</c:v>
                </c:pt>
                <c:pt idx="3">
                  <c:v>Obesity</c:v>
                </c:pt>
                <c:pt idx="4">
                  <c:v>Cancer</c:v>
                </c:pt>
                <c:pt idx="5">
                  <c:v>Asthma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9308</c:v>
                </c:pt>
                <c:pt idx="1">
                  <c:v>9304</c:v>
                </c:pt>
                <c:pt idx="2">
                  <c:v>9245</c:v>
                </c:pt>
                <c:pt idx="3">
                  <c:v>9231</c:v>
                </c:pt>
                <c:pt idx="4">
                  <c:v>9227</c:v>
                </c:pt>
                <c:pt idx="5">
                  <c:v>9185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D6-47F2-84EA-84C57E349F0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D1B2A"/>
                </a:solidFill>
                <a:latin typeface="Arial"/>
              </a:rPr>
              <a:t>Admission Type Split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Admission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3A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851-4163-BD21-0E69B915D749}"/>
              </c:ext>
            </c:extLst>
          </c:dPt>
          <c:dPt>
            <c:idx val="1"/>
            <c:bubble3D val="0"/>
            <c:spPr>
              <a:solidFill>
                <a:srgbClr val="0E74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851-4163-BD21-0E69B915D749}"/>
              </c:ext>
            </c:extLst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851-4163-BD21-0E69B915D74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851-4163-BD21-0E69B915D74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851-4163-BD21-0E69B915D74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851-4163-BD21-0E69B915D74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Elective</c:v>
                </c:pt>
                <c:pt idx="1">
                  <c:v>Urgent</c:v>
                </c:pt>
                <c:pt idx="2">
                  <c:v>Emergency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18655</c:v>
                </c:pt>
                <c:pt idx="1">
                  <c:v>18576</c:v>
                </c:pt>
                <c:pt idx="2">
                  <c:v>18269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851-4163-BD21-0E69B915D7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D1B2A"/>
                </a:solidFill>
                <a:latin typeface="Arial"/>
              </a:rPr>
              <a:t>Top 5 Hospitals by Patients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1B3A5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Llc Smith</c:v>
                </c:pt>
                <c:pt idx="1">
                  <c:v>Ltd Smith</c:v>
                </c:pt>
                <c:pt idx="2">
                  <c:v>Johnson Plc</c:v>
                </c:pt>
                <c:pt idx="3">
                  <c:v>Smith Ltd</c:v>
                </c:pt>
                <c:pt idx="4">
                  <c:v>Smith Group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44</c:v>
                </c:pt>
                <c:pt idx="1">
                  <c:v>39</c:v>
                </c:pt>
                <c:pt idx="2">
                  <c:v>38</c:v>
                </c:pt>
                <c:pt idx="3">
                  <c:v>37</c:v>
                </c:pt>
                <c:pt idx="4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3F-4734-B061-4C4F6AB4F50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D1B2A"/>
                </a:solidFill>
                <a:latin typeface="Arial"/>
              </a:rPr>
              <a:t>Top 5 Doctors by Patients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0E74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Michael Smith</c:v>
                </c:pt>
                <c:pt idx="1">
                  <c:v>John Smith</c:v>
                </c:pt>
                <c:pt idx="2">
                  <c:v>Robert Smith</c:v>
                </c:pt>
                <c:pt idx="3">
                  <c:v>James Smith</c:v>
                </c:pt>
                <c:pt idx="4">
                  <c:v>Michael Johnson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</c:v>
                </c:pt>
                <c:pt idx="1">
                  <c:v>22</c:v>
                </c:pt>
                <c:pt idx="2">
                  <c:v>22</c:v>
                </c:pt>
                <c:pt idx="3">
                  <c:v>20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78-4E37-8BAE-D3EDC8E0C12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D1B2A"/>
                </a:solidFill>
                <a:latin typeface="Arial"/>
              </a:rPr>
              <a:t>Patients by Insurance Provider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5BA3C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0A5-4874-AD58-C7F02D7ED8A8}"/>
              </c:ext>
            </c:extLst>
          </c:dPt>
          <c:dPt>
            <c:idx val="1"/>
            <c:invertIfNegative val="0"/>
            <c:bubble3D val="0"/>
            <c:spPr>
              <a:solidFill>
                <a:srgbClr val="0E74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0A5-4874-AD58-C7F02D7ED8A8}"/>
              </c:ext>
            </c:extLst>
          </c:dPt>
          <c:dPt>
            <c:idx val="2"/>
            <c:invertIfNegative val="0"/>
            <c:bubble3D val="0"/>
            <c:spPr>
              <a:solidFill>
                <a:srgbClr val="0E74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0A5-4874-AD58-C7F02D7ED8A8}"/>
              </c:ext>
            </c:extLst>
          </c:dPt>
          <c:dPt>
            <c:idx val="3"/>
            <c:invertIfNegative val="0"/>
            <c:bubble3D val="0"/>
            <c:spPr>
              <a:solidFill>
                <a:srgbClr val="0E74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0A5-4874-AD58-C7F02D7ED8A8}"/>
              </c:ext>
            </c:extLst>
          </c:dPt>
          <c:dPt>
            <c:idx val="4"/>
            <c:invertIfNegative val="0"/>
            <c:bubble3D val="0"/>
            <c:spPr>
              <a:solidFill>
                <a:srgbClr val="0E74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0A5-4874-AD58-C7F02D7ED8A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Cigna</c:v>
                </c:pt>
                <c:pt idx="1">
                  <c:v>Medicare</c:v>
                </c:pt>
                <c:pt idx="2">
                  <c:v>UnitedHealthcare</c:v>
                </c:pt>
                <c:pt idx="3">
                  <c:v>Blue Cross</c:v>
                </c:pt>
                <c:pt idx="4">
                  <c:v>Aetna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11249</c:v>
                </c:pt>
                <c:pt idx="1">
                  <c:v>11154</c:v>
                </c:pt>
                <c:pt idx="2">
                  <c:v>11125</c:v>
                </c:pt>
                <c:pt idx="3">
                  <c:v>11059</c:v>
                </c:pt>
                <c:pt idx="4">
                  <c:v>10913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0A5-4874-AD58-C7F02D7ED8A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D1B2A"/>
                </a:solidFill>
                <a:latin typeface="Arial"/>
              </a:rPr>
              <a:t>Test Results Distribution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Test Results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3CB-4703-A03D-35D534378070}"/>
              </c:ext>
            </c:extLst>
          </c:dPt>
          <c:dPt>
            <c:idx val="1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3CB-4703-A03D-35D534378070}"/>
              </c:ext>
            </c:extLst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3CB-4703-A03D-35D53437807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3CB-4703-A03D-35D53437807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3CB-4703-A03D-35D53437807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3CB-4703-A03D-35D53437807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Abnormal</c:v>
                </c:pt>
                <c:pt idx="1">
                  <c:v>Normal</c:v>
                </c:pt>
                <c:pt idx="2">
                  <c:v>Inconclusive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18627</c:v>
                </c:pt>
                <c:pt idx="1">
                  <c:v>18517</c:v>
                </c:pt>
                <c:pt idx="2">
                  <c:v>18356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3CB-4703-A03D-35D5343780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D1B2A"/>
                </a:solidFill>
                <a:latin typeface="Arial"/>
              </a:rPr>
              <a:t>Patients by Medication Type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0E74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Arthritis</c:v>
                </c:pt>
                <c:pt idx="1">
                  <c:v>Diabetes</c:v>
                </c:pt>
                <c:pt idx="2">
                  <c:v>Hypertension</c:v>
                </c:pt>
                <c:pt idx="3">
                  <c:v>Obesity</c:v>
                </c:pt>
                <c:pt idx="4">
                  <c:v>Cancer</c:v>
                </c:pt>
                <c:pt idx="5">
                  <c:v>Asthma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9308</c:v>
                </c:pt>
                <c:pt idx="1">
                  <c:v>9304</c:v>
                </c:pt>
                <c:pt idx="2">
                  <c:v>9245</c:v>
                </c:pt>
                <c:pt idx="3">
                  <c:v>9231</c:v>
                </c:pt>
                <c:pt idx="4">
                  <c:v>9227</c:v>
                </c:pt>
                <c:pt idx="5">
                  <c:v>9185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85-4ABE-96FB-A8BB2ECE7AD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4233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50292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ANALYTICS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94360" y="1143000"/>
            <a:ext cx="6858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Multi-Hospital Patient</a:t>
            </a:r>
            <a:endParaRPr lang="en-US" sz="4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94360" y="288036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data analytics report across a U.S. hospital network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Examining patient trends, costs, outcomes, and operational performance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94360" y="3794760"/>
            <a:ext cx="5029200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3977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by Sami Ullah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" y="4297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2019–2024  |  55,500 Patients  |  $1.42B Revenue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315200" y="-457200"/>
            <a:ext cx="2560320" cy="2560320"/>
          </a:xfrm>
          <a:prstGeom prst="ellipse">
            <a:avLst/>
          </a:prstGeom>
          <a:solidFill>
            <a:srgbClr val="0E7490">
              <a:alpha val="15000"/>
            </a:srgbClr>
          </a:solidFill>
          <a:ln w="12700">
            <a:solidFill>
              <a:srgbClr val="0E7490">
                <a:alpha val="3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0" y="2926080"/>
            <a:ext cx="1645920" cy="1645920"/>
          </a:xfrm>
          <a:prstGeom prst="ellipse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CHALLENGE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questions the executive team needed answered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206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411480" cy="11155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087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26187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Volume Trends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53619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patient numbers changing over time, by age, gender, admission type, and hospital?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441448"/>
            <a:ext cx="4206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441448"/>
            <a:ext cx="411480" cy="11155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76148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251460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Stay Duration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27889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driving average treatment costs and hospital length of stay across the network?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694176"/>
            <a:ext cx="4206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694176"/>
            <a:ext cx="411480" cy="11155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01421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376732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Performance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404164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hospitals have the highest or lowest patient volumes — and why?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1188720"/>
            <a:ext cx="4206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188720"/>
            <a:ext cx="411480" cy="11155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15087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12080" y="126187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&amp; Test Results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12080" y="153619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medications are most administered, and how are test results distributed?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441448"/>
            <a:ext cx="4206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441448"/>
            <a:ext cx="411480" cy="11155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76148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12080" y="251460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Impact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12080" y="27889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payer mix break down by provider, and what are the reimbursement implications?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3694176"/>
            <a:ext cx="4206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694176"/>
            <a:ext cx="411480" cy="11155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401421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12080" y="376732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Patterns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12080" y="404164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seasonal admission trends that affect staffing and resource planning?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DATA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rich, multi-dimensional patient dataset spanning six years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965960" cy="1280160"/>
          </a:xfrm>
          <a:prstGeom prst="rect">
            <a:avLst/>
          </a:prstGeom>
          <a:solidFill>
            <a:srgbClr val="0E7490">
              <a:alpha val="80000"/>
            </a:srgbClr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344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55,500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8745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1143000"/>
            <a:ext cx="1965960" cy="1280160"/>
          </a:xfrm>
          <a:prstGeom prst="rect">
            <a:avLst/>
          </a:prstGeom>
          <a:solidFill>
            <a:srgbClr val="0E7490">
              <a:alpha val="80000"/>
            </a:srgbClr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41448" y="12344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Years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41448" y="18745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– 2024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08576" y="1143000"/>
            <a:ext cx="1965960" cy="1280160"/>
          </a:xfrm>
          <a:prstGeom prst="rect">
            <a:avLst/>
          </a:prstGeom>
          <a:solidFill>
            <a:srgbClr val="0E7490">
              <a:alpha val="80000"/>
            </a:srgbClr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8576" y="12344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Fields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08576" y="18745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Patient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75704" y="1143000"/>
            <a:ext cx="1965960" cy="1280160"/>
          </a:xfrm>
          <a:prstGeom prst="rect">
            <a:avLst/>
          </a:prstGeom>
          <a:solidFill>
            <a:srgbClr val="0E7490">
              <a:alpha val="80000"/>
            </a:srgbClr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75704" y="12344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$1.42B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775704" y="18745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Billing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2633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 FIELDS ANALYZED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2743200" cy="658368"/>
          </a:xfrm>
          <a:prstGeom prst="rect">
            <a:avLst/>
          </a:prstGeom>
          <a:solidFill>
            <a:srgbClr val="1B3A5C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026664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Demographics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" y="324612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Blood Type, Age Group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2971800"/>
            <a:ext cx="2743200" cy="658368"/>
          </a:xfrm>
          <a:prstGeom prst="rect">
            <a:avLst/>
          </a:prstGeom>
          <a:solidFill>
            <a:srgbClr val="1B3A5C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3026664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Data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10128" y="324612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Condition, Medication, Test Results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26480" y="2971800"/>
            <a:ext cx="2743200" cy="658368"/>
          </a:xfrm>
          <a:prstGeom prst="rect">
            <a:avLst/>
          </a:prstGeom>
          <a:solidFill>
            <a:srgbClr val="1B3A5C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36208" y="3026664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Details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36208" y="324612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(Elective/Emergency/Urgent), Season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3749040"/>
            <a:ext cx="2743200" cy="658368"/>
          </a:xfrm>
          <a:prstGeom prst="rect">
            <a:avLst/>
          </a:prstGeom>
          <a:solidFill>
            <a:srgbClr val="1B3A5C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3803904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&amp; Cost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4048" y="402336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Admission/Discharge Dates, Length of Stay, Billing Amount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0" y="3749040"/>
            <a:ext cx="2743200" cy="658368"/>
          </a:xfrm>
          <a:prstGeom prst="rect">
            <a:avLst/>
          </a:prstGeom>
          <a:solidFill>
            <a:srgbClr val="1B3A5C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0128" y="3803904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Info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10128" y="402336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Hospital, Doctor, Room Number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26480" y="3749040"/>
            <a:ext cx="2743200" cy="658368"/>
          </a:xfrm>
          <a:prstGeom prst="rect">
            <a:avLst/>
          </a:prstGeom>
          <a:solidFill>
            <a:srgbClr val="1B3A5C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36208" y="3803904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36208" y="402336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Provider (5 payers)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ANALYTICAL APPROACH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executive insights — five stages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9224" y="1143000"/>
            <a:ext cx="914400" cy="9144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207008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28600" y="2240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" y="25420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55,500 patient records in Excel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783080" y="1581912"/>
            <a:ext cx="411480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04872" y="1143000"/>
            <a:ext cx="914400" cy="9144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04872" y="1207008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984248" y="2240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Prep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84248" y="25420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fields, validation, de-dup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538728" y="1581912"/>
            <a:ext cx="411480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0520" y="1143000"/>
            <a:ext cx="914400" cy="9144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0520" y="1207008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739896" y="2240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PivotTables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39896" y="25420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Aggregations across 12 dimensions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294376" y="1581912"/>
            <a:ext cx="411480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16168" y="1143000"/>
            <a:ext cx="914400" cy="9144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16168" y="1207008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495544" y="2240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95544" y="25420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interactive charts + KPI tiles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050024" y="1581912"/>
            <a:ext cx="411480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71816" y="1143000"/>
            <a:ext cx="914400" cy="914400"/>
          </a:xfrm>
          <a:prstGeom prst="ellipse">
            <a:avLst/>
          </a:prstGeom>
          <a:solidFill>
            <a:srgbClr val="0D6B50"/>
          </a:solidFill>
          <a:ln w="12700">
            <a:solidFill>
              <a:srgbClr val="0D6B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71816" y="1207008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251192" y="2240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251192" y="25420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findings &amp; 8 recommendations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200400"/>
            <a:ext cx="85953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8640" y="33101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TECHNIQUES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657600"/>
            <a:ext cx="1554480" cy="100584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7307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40050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 365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176272" y="3657600"/>
            <a:ext cx="1554480" cy="100584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76272" y="37307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176272" y="40050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PivotTables (12 pivots)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895344" y="3657600"/>
            <a:ext cx="1554480" cy="100584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95344" y="37307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895344" y="40050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(Gender filter)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614416" y="3657600"/>
            <a:ext cx="1554480" cy="100584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14416" y="37307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614416" y="40050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IFS, DATE, TRIM, COUNTIF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333488" y="3657600"/>
            <a:ext cx="1554480" cy="100584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33488" y="37307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333488" y="40050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Bar, Line, Donut, Column charts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NUMBERS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KPIs from the executive dashboard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4114800" cy="1645920"/>
          </a:xfrm>
          <a:prstGeom prst="rect">
            <a:avLst/>
          </a:prstGeom>
          <a:solidFill>
            <a:srgbClr val="0E7490">
              <a:alpha val="85000"/>
            </a:srgbClr>
          </a:solidFill>
          <a:ln w="10160">
            <a:solidFill>
              <a:srgbClr val="0E74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70432"/>
            <a:ext cx="201168" cy="1645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9903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55,500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94360" y="2130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Patients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4323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hospitals 2019–2024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170432"/>
            <a:ext cx="4114800" cy="1645920"/>
          </a:xfrm>
          <a:prstGeom prst="rect">
            <a:avLst/>
          </a:prstGeom>
          <a:solidFill>
            <a:srgbClr val="0D6B50">
              <a:alpha val="85000"/>
            </a:srgbClr>
          </a:solidFill>
          <a:ln w="10160">
            <a:solidFill>
              <a:srgbClr val="0D6B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170432"/>
            <a:ext cx="201168" cy="1645920"/>
          </a:xfrm>
          <a:prstGeom prst="rect">
            <a:avLst/>
          </a:prstGeom>
          <a:solidFill>
            <a:srgbClr val="0D6B50"/>
          </a:solidFill>
          <a:ln w="12700">
            <a:solidFill>
              <a:srgbClr val="0D6B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39903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$1.42B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074920" y="2130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Treatment Cost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74920" y="24323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billing revenue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044952"/>
            <a:ext cx="4114800" cy="1645920"/>
          </a:xfrm>
          <a:prstGeom prst="rect">
            <a:avLst/>
          </a:prstGeom>
          <a:solidFill>
            <a:srgbClr val="1F4E79">
              <a:alpha val="85000"/>
            </a:srgbClr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044952"/>
            <a:ext cx="201168" cy="1645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27355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$25,539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94360" y="4005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Treatment Cost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4306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patient across the network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044952"/>
            <a:ext cx="4114800" cy="1645920"/>
          </a:xfrm>
          <a:prstGeom prst="rect">
            <a:avLst/>
          </a:prstGeom>
          <a:solidFill>
            <a:srgbClr val="7C3AED">
              <a:alpha val="85000"/>
            </a:srgbClr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3044952"/>
            <a:ext cx="201168" cy="1645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327355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Days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5074920" y="4005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Length of Stay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74920" y="4306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patient hospitalization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VOLUME TRENDS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admission count: 2019 – 2024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78992"/>
          <a:ext cx="57607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263640" y="1143000"/>
            <a:ext cx="25603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263640" y="1143000"/>
            <a:ext cx="164592" cy="11155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92240" y="121615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Surge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92240" y="1472184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 jumped from 7,387 in 2019 to 11,285 in 2020 — a 53% increase, suggesting network expansion.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263640" y="2404872"/>
            <a:ext cx="25603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63640" y="2404872"/>
            <a:ext cx="164592" cy="11155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2240" y="247802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2021–23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92240" y="2734056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held consistently at ~11,000/year for three consecutive years, indicating a steady operational baseline.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263640" y="3666744"/>
            <a:ext cx="25603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63640" y="3666744"/>
            <a:ext cx="164592" cy="11155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92240" y="373989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Note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92240" y="399592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sharp drop to 3,854 reflects a partial-year dataset — NOT a real decline. Full-year projection ≈ 11,000.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OUR PATIENTS?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distribution and gender breakdown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97280"/>
          <a:ext cx="53035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5669280" y="1097280"/>
          <a:ext cx="32004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5669280" y="3520440"/>
            <a:ext cx="3200400" cy="1325880"/>
          </a:xfrm>
          <a:prstGeom prst="rect">
            <a:avLst/>
          </a:prstGeom>
          <a:solidFill>
            <a:srgbClr val="DBEAFE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852160" y="36118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5852160" y="385876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71+ are the largest cohort (22% of total volume) — nearly 3× the size of the youngest group. A senior care strategy is essential.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CONDITIONS ARE WE TREATING?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of patients by primary medical condition and admission type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97280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5669280" y="1097280"/>
          <a:ext cx="32004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5669280" y="3703320"/>
            <a:ext cx="3200400" cy="1143000"/>
          </a:xfrm>
          <a:prstGeom prst="rect">
            <a:avLst/>
          </a:prstGeom>
          <a:solidFill>
            <a:srgbClr val="DBEAFE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852160" y="37764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5852160" y="40233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 of admissions are non-elective (urgent + emergency). Robust emergency capacity and rapid response protocols are critical.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74320" y="4407408"/>
            <a:ext cx="5303520" cy="502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7200" y="44622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range: 9,185 (Asthma) → 9,308 (Arthritis)  |  Difference of only 123 patients across all conditions — an unusually uniform distribution.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STAY DURATION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what drives treatment costs across the network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4114800" cy="1188720"/>
          </a:xfrm>
          <a:prstGeom prst="rect">
            <a:avLst/>
          </a:prstGeom>
          <a:solidFill>
            <a:srgbClr val="0E7490">
              <a:alpha val="75000"/>
            </a:srgbClr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3444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$1,417,432,043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18745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Treatment Cost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1031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2019–2024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1143000"/>
            <a:ext cx="4114800" cy="1188720"/>
          </a:xfrm>
          <a:prstGeom prst="rect">
            <a:avLst/>
          </a:prstGeom>
          <a:solidFill>
            <a:srgbClr val="0E7490">
              <a:alpha val="75000"/>
            </a:srgbClr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23444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$25,539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892040" y="18745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/ Patient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21031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Network-wide average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2514600"/>
            <a:ext cx="4114800" cy="1188720"/>
          </a:xfrm>
          <a:prstGeom prst="rect">
            <a:avLst/>
          </a:prstGeom>
          <a:solidFill>
            <a:srgbClr val="0E7490">
              <a:alpha val="75000"/>
            </a:srgbClr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60604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Days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11480" y="32461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Length of Stay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34747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patient admission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2514600"/>
            <a:ext cx="4114800" cy="1188720"/>
          </a:xfrm>
          <a:prstGeom prst="rect">
            <a:avLst/>
          </a:prstGeom>
          <a:solidFill>
            <a:srgbClr val="0E7490">
              <a:alpha val="75000"/>
            </a:srgbClr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60604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$154 – $51K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892040" y="32461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Range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34747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to max per patient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0" y="4526280"/>
            <a:ext cx="9144000" cy="571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Break down the $25,539 average cost by medical condition, admission type, and hospital to identify cost outliers and standardize high-cost care pathways.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&amp; DOCTOR PERFORMANCE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hospitals and top 5 physicians by patient volume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97280"/>
          <a:ext cx="43891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754880" y="1097280"/>
          <a:ext cx="41148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4498848"/>
            <a:ext cx="8595360" cy="457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45537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Admissions are widely distributed across the network. No single facility dominates — the peak is only 44 patients, suggesting fragmented volume rather than concentrated load.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PAYER MIX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volume and strategic implications by insurance provider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97280"/>
          <a:ext cx="54864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1143000"/>
            <a:ext cx="288036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43600" y="1143000"/>
            <a:ext cx="164592" cy="11155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72200" y="12161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Mix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72200" y="1472184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payer exceeds 20.3% — healthy diversification reduces revenue concentration risk.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943600" y="2404872"/>
            <a:ext cx="288036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0" y="2404872"/>
            <a:ext cx="164592" cy="11155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72200" y="24780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Cigna Leads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72200" y="2734056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11,249 patients (20.3%) — the largest single payer. A priority relationship for contract negotiations.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943600" y="3666744"/>
            <a:ext cx="288036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943600" y="3666744"/>
            <a:ext cx="164592" cy="11155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72200" y="37398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Watch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172200" y="399592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11,154 patients (20.1%) — growing Medicare volume has reimbursement rate implications under CMS regulations.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 &amp; MEDICATION PATTERNS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output distributions across the patient population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97280"/>
          <a:ext cx="41148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572000" y="1097280"/>
          <a:ext cx="42976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4160520"/>
            <a:ext cx="8595360" cy="71323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274320" y="4160520"/>
            <a:ext cx="20116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66928" y="422452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REQUIRED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66928" y="44348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 of all test results are classified as Inconclusive. This is statistically unusual and warrants an audit of testing protocols and equipment calibration across facilities.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data-backed insights for executive decision-making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4114800" cy="822960"/>
          </a:xfrm>
          <a:prstGeom prst="rect">
            <a:avLst/>
          </a:prstGeom>
          <a:solidFill>
            <a:srgbClr val="1B3A5C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143000"/>
            <a:ext cx="457200" cy="8229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32588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234440"/>
            <a:ext cx="3456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 surged 53% from 2019→2020, then stabilized. 2024 data is partial — validate before forecasting.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1143000"/>
            <a:ext cx="4114800" cy="822960"/>
          </a:xfrm>
          <a:prstGeom prst="rect">
            <a:avLst/>
          </a:prstGeom>
          <a:solidFill>
            <a:srgbClr val="1B3A5C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143000"/>
            <a:ext cx="457200" cy="8229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32588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57800" y="1234440"/>
            <a:ext cx="3456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aged 71+ are the largest cohort (22%) — nearly 3× the youngest group. Senior care strategy is critical.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2103120"/>
            <a:ext cx="4114800" cy="822960"/>
          </a:xfrm>
          <a:prstGeom prst="rect">
            <a:avLst/>
          </a:prstGeom>
          <a:solidFill>
            <a:srgbClr val="1B3A5C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2103120"/>
            <a:ext cx="457200" cy="8229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28600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2194560"/>
            <a:ext cx="3456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medical conditions show near-identical counts (~9,200 each). Validate whether this reflects real population data.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2103120"/>
            <a:ext cx="4114800" cy="822960"/>
          </a:xfrm>
          <a:prstGeom prst="rect">
            <a:avLst/>
          </a:prstGeom>
          <a:solidFill>
            <a:srgbClr val="1B3A5C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103120"/>
            <a:ext cx="457200" cy="8229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28600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57800" y="2194560"/>
            <a:ext cx="3456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is perfectly split 50/50. Combined with F3, this may indicate a synthetic dataset requiring validation.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8600" y="3063240"/>
            <a:ext cx="4114800" cy="822960"/>
          </a:xfrm>
          <a:prstGeom prst="rect">
            <a:avLst/>
          </a:prstGeom>
          <a:solidFill>
            <a:srgbClr val="1B3A5C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3063240"/>
            <a:ext cx="457200" cy="8229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324612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3154680"/>
            <a:ext cx="3456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 of admissions are urgent or emergency. Elective scheduling must not displace emergency capacity.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3063240"/>
            <a:ext cx="4114800" cy="822960"/>
          </a:xfrm>
          <a:prstGeom prst="rect">
            <a:avLst/>
          </a:prstGeom>
          <a:solidFill>
            <a:srgbClr val="1B3A5C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3063240"/>
            <a:ext cx="457200" cy="8229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324612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57800" y="3154680"/>
            <a:ext cx="3456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payers are nearly equal (~20% each). Balanced mix reduces dependency risk but demands broad contract coverage.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28600" y="4023360"/>
            <a:ext cx="4114800" cy="822960"/>
          </a:xfrm>
          <a:prstGeom prst="rect">
            <a:avLst/>
          </a:prstGeom>
          <a:solidFill>
            <a:srgbClr val="1B3A5C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" y="4023360"/>
            <a:ext cx="457200" cy="8229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" y="420624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77240" y="4114800"/>
            <a:ext cx="3456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 of test results are Inconclusive — statistically unusual. An audit of testing protocols is strongly recommended.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09160" y="4023360"/>
            <a:ext cx="4114800" cy="822960"/>
          </a:xfrm>
          <a:prstGeom prst="rect">
            <a:avLst/>
          </a:prstGeom>
          <a:solidFill>
            <a:srgbClr val="1B3A5C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9160" y="4023360"/>
            <a:ext cx="457200" cy="8229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420624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257800" y="4114800"/>
            <a:ext cx="3456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volume is widely dispersed. Peak facility sees only 44 patients — may indicate fragmentation of care.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strategic actions — organized by urgency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115568"/>
            <a:ext cx="41148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15568"/>
            <a:ext cx="164592" cy="8412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188720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DC2626">
              <a:alpha val="20000"/>
            </a:srgbClr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18872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02920" y="139903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2024 Data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61848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whether 2024 figures are partial. Forecasts, budgets, and staffing plans depend on it.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115568"/>
            <a:ext cx="41148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115568"/>
            <a:ext cx="164592" cy="8412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65192" y="1188720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DC2626">
              <a:alpha val="20000"/>
            </a:srgbClr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118872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983480" y="139903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Inconclusive Tests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83480" y="161848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 inconclusive rate warrants protocol review and equipment calibration across all facilities.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2075688"/>
            <a:ext cx="41148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075688"/>
            <a:ext cx="164592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" y="2148840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F59E0B">
              <a:alpha val="2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" y="214884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02920" y="235915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Care Strategy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257860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geriatric units, specialist staffing, and tailored discharge planning for 71+ patients.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2075688"/>
            <a:ext cx="41148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075688"/>
            <a:ext cx="164592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65192" y="2148840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F59E0B">
              <a:alpha val="2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65192" y="214884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983480" y="235915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Capacity Planning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257860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66% non-elective admissions, maintain surge protocols and avoid over-scheduling electives.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28600" y="3035808"/>
            <a:ext cx="41148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3035808"/>
            <a:ext cx="164592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" y="3108960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F59E0B">
              <a:alpha val="2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" y="310896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02920" y="331927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Benchmarking by Condition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353872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down $25,539 avg cost by condition and hospital to identify and reduce cost outliers.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3035808"/>
            <a:ext cx="41148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035808"/>
            <a:ext cx="164592" cy="8412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65192" y="3108960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059669">
              <a:alpha val="20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65192" y="310896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983480" y="331927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 Key Payer Contracts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83480" y="353872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Proactively renegotiate Cigna and Medicare agreements — these two cover ~40% of all patients.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28600" y="3995928"/>
            <a:ext cx="41148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28600" y="3995928"/>
            <a:ext cx="164592" cy="8412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4632" y="4069080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059669">
              <a:alpha val="20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" y="406908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02920" y="427939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Seasonal Analysis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02920" y="449884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seasonal admissions trend chart to support quarterly staffing and supply forecasting.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09160" y="3995928"/>
            <a:ext cx="41148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09160" y="3995928"/>
            <a:ext cx="164592" cy="8412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65192" y="4069080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059669">
              <a:alpha val="20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65192" y="406908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983480" y="427939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Physician Caseloads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983480" y="449884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doctors handle disproportionate volumes. Implement workload monitoring to prevent burnout.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E7490">
              <a:alpha val="12000"/>
            </a:srgbClr>
          </a:solidFill>
          <a:ln w="12700">
            <a:solidFill>
              <a:srgbClr val="0E749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22D3EE">
              <a:alpha val="8000"/>
            </a:srgbClr>
          </a:solidFill>
          <a:ln w="1270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insights</a:t>
            </a:r>
            <a:endParaRPr lang="en-US" sz="4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action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65760" y="2240280"/>
            <a:ext cx="347472" cy="34747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240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22311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2024 Dataset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249631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Team  |  Week 1–2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807208"/>
            <a:ext cx="347472" cy="34747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807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" y="27980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Inconclusive Test Results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" y="30632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Operations  |  Week 2–4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374136"/>
            <a:ext cx="347472" cy="34747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74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" y="33649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Benchmarking Deep-Dive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" y="363016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Analytics  |  Month 1–2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941064"/>
            <a:ext cx="347472" cy="34747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941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1248" y="3931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Care Strategy Workshop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1248" y="419709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Leadership  |  Month 2–3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507992"/>
            <a:ext cx="347472" cy="34747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507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" y="44988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Trend Dashboard Addition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1248" y="476402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/ Analytics Team  |  Month 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2057400"/>
            <a:ext cx="2651760" cy="2834640"/>
          </a:xfrm>
          <a:prstGeom prst="rect">
            <a:avLst/>
          </a:prstGeom>
          <a:solidFill>
            <a:srgbClr val="0E7490">
              <a:alpha val="80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22402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309360" y="30175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Excel file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use the Gender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 to filter all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 in real time.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4069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Project.xlsx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4818888"/>
            <a:ext cx="5486400" cy="0"/>
          </a:xfrm>
          <a:prstGeom prst="line">
            <a:avLst/>
          </a:prstGeom>
          <a:noFill/>
          <a:ln w="12700">
            <a:solidFill>
              <a:srgbClr val="0E74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892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by Sami Ullah  ·  Multi-Hospital Patient Performance Analysis  ·  2019–2024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1291</Words>
  <Application>Microsoft Office PowerPoint</Application>
  <PresentationFormat>On-screen Show (16:9)</PresentationFormat>
  <Paragraphs>241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Multi-Hospital Patient Performance Analysis</dc:title>
  <dc:subject>PptxGenJS Presentation</dc:subject>
  <dc:creator>Sami Ullah</dc:creator>
  <cp:lastModifiedBy>Sami Ullah</cp:lastModifiedBy>
  <cp:revision>1</cp:revision>
  <dcterms:created xsi:type="dcterms:W3CDTF">2026-04-20T06:44:37Z</dcterms:created>
  <dcterms:modified xsi:type="dcterms:W3CDTF">2026-04-20T06:53:14Z</dcterms:modified>
</cp:coreProperties>
</file>